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8288000" cy="10287000"/>
  <p:notesSz cx="6858000" cy="9144000"/>
  <p:embeddedFontLst>
    <p:embeddedFont>
      <p:font typeface="Inter" panose="020B0604020202020204" charset="0"/>
      <p:regular r:id="rId8"/>
    </p:embeddedFont>
    <p:embeddedFont>
      <p:font typeface="Inter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841819" cy="10287000"/>
          </a:xfrm>
          <a:custGeom>
            <a:avLst/>
            <a:gdLst/>
            <a:ahLst/>
            <a:cxnLst/>
            <a:rect l="l" t="t" r="r" b="b"/>
            <a:pathLst>
              <a:path w="2841819" h="10287000">
                <a:moveTo>
                  <a:pt x="0" y="0"/>
                </a:moveTo>
                <a:lnTo>
                  <a:pt x="2841819" y="0"/>
                </a:lnTo>
                <a:lnTo>
                  <a:pt x="28418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386" r="-4111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365899" y="2925520"/>
            <a:ext cx="7952298" cy="249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13"/>
              </a:lnSpc>
            </a:pPr>
            <a:r>
              <a:rPr lang="en-US" sz="11074" spc="-963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Financial Sales 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99290" y="5825276"/>
            <a:ext cx="7282563" cy="216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9"/>
              </a:lnSpc>
            </a:pPr>
            <a:r>
              <a:rPr lang="en-US" sz="2893" b="1" spc="-251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Data Analyst Internship – Task 4</a:t>
            </a:r>
          </a:p>
          <a:p>
            <a:pPr marL="0" lvl="0" indent="0" algn="ctr">
              <a:lnSpc>
                <a:spcPts val="2459"/>
              </a:lnSpc>
            </a:pPr>
            <a:endParaRPr lang="en-US" sz="2893" b="1" spc="-251">
              <a:solidFill>
                <a:srgbClr val="26262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ctr">
              <a:lnSpc>
                <a:spcPts val="2459"/>
              </a:lnSpc>
            </a:pPr>
            <a:r>
              <a:rPr lang="en-US" sz="2893" b="1" spc="-251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Prepared by: Ankit Anand Verma</a:t>
            </a:r>
          </a:p>
          <a:p>
            <a:pPr marL="0" lvl="0" indent="0" algn="ctr">
              <a:lnSpc>
                <a:spcPts val="2459"/>
              </a:lnSpc>
            </a:pPr>
            <a:endParaRPr lang="en-US" sz="2893" b="1" spc="-251">
              <a:solidFill>
                <a:srgbClr val="26262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ctr">
              <a:lnSpc>
                <a:spcPts val="2459"/>
              </a:lnSpc>
            </a:pPr>
            <a:r>
              <a:rPr lang="en-US" sz="2893" b="1" spc="-251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Domain: #24  Data Analyst Interns </a:t>
            </a:r>
          </a:p>
          <a:p>
            <a:pPr marL="0" lvl="0" indent="0" algn="ctr">
              <a:lnSpc>
                <a:spcPts val="2459"/>
              </a:lnSpc>
            </a:pPr>
            <a:endParaRPr lang="en-US" sz="2893" b="1" spc="-251">
              <a:solidFill>
                <a:srgbClr val="26262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ctr">
              <a:lnSpc>
                <a:spcPts val="2459"/>
              </a:lnSpc>
            </a:pPr>
            <a:r>
              <a:rPr lang="en-US" sz="2893" b="1" spc="-251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Tool: Microsoft Power BI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7343" y="834390"/>
            <a:ext cx="1301957" cy="40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88"/>
              </a:lnSpc>
            </a:pPr>
            <a:r>
              <a:rPr lang="en-US" sz="1498" spc="-28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Northline Group</a:t>
            </a:r>
          </a:p>
        </p:txBody>
      </p:sp>
      <p:sp>
        <p:nvSpPr>
          <p:cNvPr id="6" name="AutoShape 6"/>
          <p:cNvSpPr/>
          <p:nvPr/>
        </p:nvSpPr>
        <p:spPr>
          <a:xfrm>
            <a:off x="16761483" y="9277350"/>
            <a:ext cx="497817" cy="0"/>
          </a:xfrm>
          <a:prstGeom prst="line">
            <a:avLst/>
          </a:prstGeom>
          <a:ln w="38100" cap="flat">
            <a:solidFill>
              <a:srgbClr val="2626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07794" y="7413626"/>
            <a:ext cx="1000064" cy="0"/>
          </a:xfrm>
          <a:prstGeom prst="line">
            <a:avLst/>
          </a:prstGeom>
          <a:ln w="38100" cap="flat">
            <a:solidFill>
              <a:srgbClr val="2626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973062" y="1468941"/>
            <a:ext cx="6347661" cy="3608942"/>
          </a:xfrm>
          <a:custGeom>
            <a:avLst/>
            <a:gdLst/>
            <a:ahLst/>
            <a:cxnLst/>
            <a:rect l="l" t="t" r="r" b="b"/>
            <a:pathLst>
              <a:path w="6347661" h="3608942">
                <a:moveTo>
                  <a:pt x="0" y="0"/>
                </a:moveTo>
                <a:lnTo>
                  <a:pt x="6347661" y="0"/>
                </a:lnTo>
                <a:lnTo>
                  <a:pt x="6347661" y="3608942"/>
                </a:lnTo>
                <a:lnTo>
                  <a:pt x="0" y="360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" b="-1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60169" y="2359445"/>
            <a:ext cx="7776914" cy="226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52"/>
              </a:lnSpc>
            </a:pPr>
            <a:r>
              <a:rPr lang="en-US" sz="7904" spc="-324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Designing for Business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7343" y="834390"/>
            <a:ext cx="1301957" cy="40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88"/>
              </a:lnSpc>
            </a:pPr>
            <a:r>
              <a:rPr lang="en-US" sz="1498" spc="-28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Northline Group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17319" y="1830395"/>
            <a:ext cx="3215808" cy="2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5"/>
              </a:lnSpc>
            </a:pPr>
            <a:r>
              <a:rPr lang="en-US" sz="2077" spc="-35">
                <a:solidFill>
                  <a:srgbClr val="3062DC"/>
                </a:solidFill>
                <a:latin typeface="Inter"/>
                <a:ea typeface="Inter"/>
                <a:cs typeface="Inter"/>
                <a:sym typeface="Inter"/>
              </a:rPr>
              <a:t>Project Objective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73062" y="5468900"/>
            <a:ext cx="3038641" cy="3349159"/>
            <a:chOff x="0" y="0"/>
            <a:chExt cx="958061" cy="105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8061" cy="1055965"/>
            </a:xfrm>
            <a:custGeom>
              <a:avLst/>
              <a:gdLst/>
              <a:ahLst/>
              <a:cxnLst/>
              <a:rect l="l" t="t" r="r" b="b"/>
              <a:pathLst>
                <a:path w="958061" h="1055965">
                  <a:moveTo>
                    <a:pt x="56052" y="0"/>
                  </a:moveTo>
                  <a:lnTo>
                    <a:pt x="902009" y="0"/>
                  </a:lnTo>
                  <a:cubicBezTo>
                    <a:pt x="916875" y="0"/>
                    <a:pt x="931132" y="5905"/>
                    <a:pt x="941644" y="16417"/>
                  </a:cubicBezTo>
                  <a:cubicBezTo>
                    <a:pt x="952156" y="26929"/>
                    <a:pt x="958061" y="41186"/>
                    <a:pt x="958061" y="56052"/>
                  </a:cubicBezTo>
                  <a:lnTo>
                    <a:pt x="958061" y="999913"/>
                  </a:lnTo>
                  <a:cubicBezTo>
                    <a:pt x="958061" y="1030870"/>
                    <a:pt x="932966" y="1055965"/>
                    <a:pt x="902009" y="1055965"/>
                  </a:cubicBezTo>
                  <a:lnTo>
                    <a:pt x="56052" y="1055965"/>
                  </a:lnTo>
                  <a:cubicBezTo>
                    <a:pt x="41186" y="1055965"/>
                    <a:pt x="26929" y="1050060"/>
                    <a:pt x="16417" y="1039548"/>
                  </a:cubicBezTo>
                  <a:cubicBezTo>
                    <a:pt x="5905" y="1029036"/>
                    <a:pt x="0" y="1014779"/>
                    <a:pt x="0" y="999913"/>
                  </a:cubicBezTo>
                  <a:lnTo>
                    <a:pt x="0" y="56052"/>
                  </a:lnTo>
                  <a:cubicBezTo>
                    <a:pt x="0" y="41186"/>
                    <a:pt x="5905" y="26929"/>
                    <a:pt x="16417" y="16417"/>
                  </a:cubicBezTo>
                  <a:cubicBezTo>
                    <a:pt x="26929" y="5905"/>
                    <a:pt x="41186" y="0"/>
                    <a:pt x="56052" y="0"/>
                  </a:cubicBezTo>
                  <a:close/>
                </a:path>
              </a:pathLst>
            </a:custGeom>
            <a:solidFill>
              <a:srgbClr val="3062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958061" cy="1036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305647" y="7728954"/>
            <a:ext cx="2284371" cy="779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Interactive Dashboard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390232" y="5468900"/>
            <a:ext cx="2930490" cy="3349159"/>
            <a:chOff x="0" y="0"/>
            <a:chExt cx="923962" cy="10559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3962" cy="1055965"/>
            </a:xfrm>
            <a:custGeom>
              <a:avLst/>
              <a:gdLst/>
              <a:ahLst/>
              <a:cxnLst/>
              <a:rect l="l" t="t" r="r" b="b"/>
              <a:pathLst>
                <a:path w="923962" h="1055965">
                  <a:moveTo>
                    <a:pt x="58121" y="0"/>
                  </a:moveTo>
                  <a:lnTo>
                    <a:pt x="865841" y="0"/>
                  </a:lnTo>
                  <a:cubicBezTo>
                    <a:pt x="881256" y="0"/>
                    <a:pt x="896039" y="6123"/>
                    <a:pt x="906939" y="17023"/>
                  </a:cubicBezTo>
                  <a:cubicBezTo>
                    <a:pt x="917839" y="27923"/>
                    <a:pt x="923962" y="42706"/>
                    <a:pt x="923962" y="58121"/>
                  </a:cubicBezTo>
                  <a:lnTo>
                    <a:pt x="923962" y="997844"/>
                  </a:lnTo>
                  <a:cubicBezTo>
                    <a:pt x="923962" y="1029944"/>
                    <a:pt x="897941" y="1055965"/>
                    <a:pt x="865841" y="1055965"/>
                  </a:cubicBezTo>
                  <a:lnTo>
                    <a:pt x="58121" y="1055965"/>
                  </a:lnTo>
                  <a:cubicBezTo>
                    <a:pt x="42706" y="1055965"/>
                    <a:pt x="27923" y="1049842"/>
                    <a:pt x="17023" y="1038942"/>
                  </a:cubicBezTo>
                  <a:cubicBezTo>
                    <a:pt x="6123" y="1028042"/>
                    <a:pt x="0" y="1013259"/>
                    <a:pt x="0" y="997844"/>
                  </a:cubicBezTo>
                  <a:lnTo>
                    <a:pt x="0" y="58121"/>
                  </a:lnTo>
                  <a:cubicBezTo>
                    <a:pt x="0" y="42706"/>
                    <a:pt x="6123" y="27923"/>
                    <a:pt x="17023" y="17023"/>
                  </a:cubicBezTo>
                  <a:cubicBezTo>
                    <a:pt x="27923" y="6123"/>
                    <a:pt x="42706" y="0"/>
                    <a:pt x="58121" y="0"/>
                  </a:cubicBezTo>
                  <a:close/>
                </a:path>
              </a:pathLst>
            </a:custGeom>
            <a:solidFill>
              <a:srgbClr val="2626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923962" cy="1036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22817" y="7728954"/>
            <a:ext cx="2284371" cy="38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KPI Monitoring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0169" y="7917101"/>
            <a:ext cx="5739422" cy="132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>
                <a:solidFill>
                  <a:srgbClr val="515151"/>
                </a:solidFill>
                <a:latin typeface="Inter"/>
                <a:ea typeface="Inter"/>
                <a:cs typeface="Inter"/>
                <a:sym typeface="Inter"/>
              </a:rPr>
              <a:t>Design an interactive sales dashboard using Power BI for business stakeholders to analyze sales performance, profits, products, countries, and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22303" y="3229693"/>
            <a:ext cx="1000064" cy="0"/>
          </a:xfrm>
          <a:prstGeom prst="line">
            <a:avLst/>
          </a:prstGeom>
          <a:ln w="38100" cap="flat">
            <a:solidFill>
              <a:srgbClr val="2626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812268" y="4181663"/>
            <a:ext cx="6280151" cy="4837964"/>
            <a:chOff x="0" y="0"/>
            <a:chExt cx="1980086" cy="15253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80086" cy="1525375"/>
            </a:xfrm>
            <a:custGeom>
              <a:avLst/>
              <a:gdLst/>
              <a:ahLst/>
              <a:cxnLst/>
              <a:rect l="l" t="t" r="r" b="b"/>
              <a:pathLst>
                <a:path w="1980086" h="1525375">
                  <a:moveTo>
                    <a:pt x="32052" y="0"/>
                  </a:moveTo>
                  <a:lnTo>
                    <a:pt x="1948034" y="0"/>
                  </a:lnTo>
                  <a:cubicBezTo>
                    <a:pt x="1965736" y="0"/>
                    <a:pt x="1980086" y="14350"/>
                    <a:pt x="1980086" y="32052"/>
                  </a:cubicBezTo>
                  <a:lnTo>
                    <a:pt x="1980086" y="1493323"/>
                  </a:lnTo>
                  <a:cubicBezTo>
                    <a:pt x="1980086" y="1511025"/>
                    <a:pt x="1965736" y="1525375"/>
                    <a:pt x="1948034" y="1525375"/>
                  </a:cubicBezTo>
                  <a:lnTo>
                    <a:pt x="32052" y="1525375"/>
                  </a:lnTo>
                  <a:cubicBezTo>
                    <a:pt x="14350" y="1525375"/>
                    <a:pt x="0" y="1511025"/>
                    <a:pt x="0" y="1493323"/>
                  </a:cubicBezTo>
                  <a:lnTo>
                    <a:pt x="0" y="32052"/>
                  </a:lnTo>
                  <a:cubicBezTo>
                    <a:pt x="0" y="14350"/>
                    <a:pt x="14350" y="0"/>
                    <a:pt x="320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980086" cy="1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61" y="4003264"/>
            <a:ext cx="6702164" cy="5194762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8359406" y="4181663"/>
            <a:ext cx="3958151" cy="2330428"/>
            <a:chOff x="0" y="0"/>
            <a:chExt cx="1247976" cy="7347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7976" cy="734767"/>
            </a:xfrm>
            <a:custGeom>
              <a:avLst/>
              <a:gdLst/>
              <a:ahLst/>
              <a:cxnLst/>
              <a:rect l="l" t="t" r="r" b="b"/>
              <a:pathLst>
                <a:path w="1247976" h="734767">
                  <a:moveTo>
                    <a:pt x="43031" y="0"/>
                  </a:moveTo>
                  <a:lnTo>
                    <a:pt x="1204945" y="0"/>
                  </a:lnTo>
                  <a:cubicBezTo>
                    <a:pt x="1228710" y="0"/>
                    <a:pt x="1247976" y="19266"/>
                    <a:pt x="1247976" y="43031"/>
                  </a:cubicBezTo>
                  <a:lnTo>
                    <a:pt x="1247976" y="691736"/>
                  </a:lnTo>
                  <a:cubicBezTo>
                    <a:pt x="1247976" y="715501"/>
                    <a:pt x="1228710" y="734767"/>
                    <a:pt x="1204945" y="734767"/>
                  </a:cubicBezTo>
                  <a:lnTo>
                    <a:pt x="43031" y="734767"/>
                  </a:lnTo>
                  <a:cubicBezTo>
                    <a:pt x="19266" y="734767"/>
                    <a:pt x="0" y="715501"/>
                    <a:pt x="0" y="691736"/>
                  </a:cubicBezTo>
                  <a:lnTo>
                    <a:pt x="0" y="43031"/>
                  </a:lnTo>
                  <a:cubicBezTo>
                    <a:pt x="0" y="19266"/>
                    <a:pt x="19266" y="0"/>
                    <a:pt x="43031" y="0"/>
                  </a:cubicBezTo>
                  <a:close/>
                </a:path>
              </a:pathLst>
            </a:custGeom>
            <a:solidFill>
              <a:srgbClr val="2626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247976" cy="71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22303" y="1960089"/>
            <a:ext cx="8196203" cy="72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27"/>
              </a:lnSpc>
            </a:pPr>
            <a:r>
              <a:rPr lang="en-US" sz="4000" spc="-305" dirty="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Dashboard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57343" y="834390"/>
            <a:ext cx="1301957" cy="40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88"/>
              </a:lnSpc>
            </a:pPr>
            <a:r>
              <a:rPr lang="en-US" sz="1498" spc="-28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Northline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30577" y="5318302"/>
            <a:ext cx="3215808" cy="38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Sales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50552" y="4577257"/>
            <a:ext cx="1766494" cy="35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7"/>
              </a:lnSpc>
            </a:pPr>
            <a:r>
              <a:rPr lang="en-US" sz="2198" spc="-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118.73M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359406" y="6689199"/>
            <a:ext cx="3958151" cy="2330428"/>
            <a:chOff x="0" y="0"/>
            <a:chExt cx="1247976" cy="7347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7976" cy="734767"/>
            </a:xfrm>
            <a:custGeom>
              <a:avLst/>
              <a:gdLst/>
              <a:ahLst/>
              <a:cxnLst/>
              <a:rect l="l" t="t" r="r" b="b"/>
              <a:pathLst>
                <a:path w="1247976" h="734767">
                  <a:moveTo>
                    <a:pt x="43031" y="0"/>
                  </a:moveTo>
                  <a:lnTo>
                    <a:pt x="1204945" y="0"/>
                  </a:lnTo>
                  <a:cubicBezTo>
                    <a:pt x="1228710" y="0"/>
                    <a:pt x="1247976" y="19266"/>
                    <a:pt x="1247976" y="43031"/>
                  </a:cubicBezTo>
                  <a:lnTo>
                    <a:pt x="1247976" y="691736"/>
                  </a:lnTo>
                  <a:cubicBezTo>
                    <a:pt x="1247976" y="715501"/>
                    <a:pt x="1228710" y="734767"/>
                    <a:pt x="1204945" y="734767"/>
                  </a:cubicBezTo>
                  <a:lnTo>
                    <a:pt x="43031" y="734767"/>
                  </a:lnTo>
                  <a:cubicBezTo>
                    <a:pt x="19266" y="734767"/>
                    <a:pt x="0" y="715501"/>
                    <a:pt x="0" y="691736"/>
                  </a:cubicBezTo>
                  <a:lnTo>
                    <a:pt x="0" y="43031"/>
                  </a:lnTo>
                  <a:cubicBezTo>
                    <a:pt x="0" y="19266"/>
                    <a:pt x="19266" y="0"/>
                    <a:pt x="43031" y="0"/>
                  </a:cubicBezTo>
                  <a:close/>
                </a:path>
              </a:pathLst>
            </a:custGeom>
            <a:solidFill>
              <a:srgbClr val="3062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247976" cy="71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30577" y="7825838"/>
            <a:ext cx="3215808" cy="38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Units Sold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50552" y="7084793"/>
            <a:ext cx="1766494" cy="35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7"/>
              </a:lnSpc>
            </a:pPr>
            <a:r>
              <a:rPr lang="en-US" sz="2198" spc="-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1.13M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517581" y="4181663"/>
            <a:ext cx="3958151" cy="2330428"/>
            <a:chOff x="0" y="0"/>
            <a:chExt cx="1247976" cy="7347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7976" cy="734767"/>
            </a:xfrm>
            <a:custGeom>
              <a:avLst/>
              <a:gdLst/>
              <a:ahLst/>
              <a:cxnLst/>
              <a:rect l="l" t="t" r="r" b="b"/>
              <a:pathLst>
                <a:path w="1247976" h="734767">
                  <a:moveTo>
                    <a:pt x="43031" y="0"/>
                  </a:moveTo>
                  <a:lnTo>
                    <a:pt x="1204945" y="0"/>
                  </a:lnTo>
                  <a:cubicBezTo>
                    <a:pt x="1228710" y="0"/>
                    <a:pt x="1247976" y="19266"/>
                    <a:pt x="1247976" y="43031"/>
                  </a:cubicBezTo>
                  <a:lnTo>
                    <a:pt x="1247976" y="691736"/>
                  </a:lnTo>
                  <a:cubicBezTo>
                    <a:pt x="1247976" y="715501"/>
                    <a:pt x="1228710" y="734767"/>
                    <a:pt x="1204945" y="734767"/>
                  </a:cubicBezTo>
                  <a:lnTo>
                    <a:pt x="43031" y="734767"/>
                  </a:lnTo>
                  <a:cubicBezTo>
                    <a:pt x="19266" y="734767"/>
                    <a:pt x="0" y="715501"/>
                    <a:pt x="0" y="691736"/>
                  </a:cubicBezTo>
                  <a:lnTo>
                    <a:pt x="0" y="43031"/>
                  </a:lnTo>
                  <a:cubicBezTo>
                    <a:pt x="0" y="19266"/>
                    <a:pt x="19266" y="0"/>
                    <a:pt x="43031" y="0"/>
                  </a:cubicBezTo>
                  <a:close/>
                </a:path>
              </a:pathLst>
            </a:custGeom>
            <a:solidFill>
              <a:srgbClr val="51515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247976" cy="71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888753" y="5318302"/>
            <a:ext cx="2444076" cy="38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Profit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08727" y="4577257"/>
            <a:ext cx="1766494" cy="35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7"/>
              </a:lnSpc>
            </a:pPr>
            <a:r>
              <a:rPr lang="en-US" sz="2198" spc="-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16.89M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517581" y="6689199"/>
            <a:ext cx="3958151" cy="2330428"/>
            <a:chOff x="0" y="0"/>
            <a:chExt cx="1247976" cy="7347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7976" cy="734767"/>
            </a:xfrm>
            <a:custGeom>
              <a:avLst/>
              <a:gdLst/>
              <a:ahLst/>
              <a:cxnLst/>
              <a:rect l="l" t="t" r="r" b="b"/>
              <a:pathLst>
                <a:path w="1247976" h="734767">
                  <a:moveTo>
                    <a:pt x="43031" y="0"/>
                  </a:moveTo>
                  <a:lnTo>
                    <a:pt x="1204945" y="0"/>
                  </a:lnTo>
                  <a:cubicBezTo>
                    <a:pt x="1228710" y="0"/>
                    <a:pt x="1247976" y="19266"/>
                    <a:pt x="1247976" y="43031"/>
                  </a:cubicBezTo>
                  <a:lnTo>
                    <a:pt x="1247976" y="691736"/>
                  </a:lnTo>
                  <a:cubicBezTo>
                    <a:pt x="1247976" y="715501"/>
                    <a:pt x="1228710" y="734767"/>
                    <a:pt x="1204945" y="734767"/>
                  </a:cubicBezTo>
                  <a:lnTo>
                    <a:pt x="43031" y="734767"/>
                  </a:lnTo>
                  <a:cubicBezTo>
                    <a:pt x="19266" y="734767"/>
                    <a:pt x="0" y="715501"/>
                    <a:pt x="0" y="691736"/>
                  </a:cubicBezTo>
                  <a:lnTo>
                    <a:pt x="0" y="43031"/>
                  </a:lnTo>
                  <a:cubicBezTo>
                    <a:pt x="0" y="19266"/>
                    <a:pt x="19266" y="0"/>
                    <a:pt x="43031" y="0"/>
                  </a:cubicBezTo>
                  <a:close/>
                </a:path>
              </a:pathLst>
            </a:custGeom>
            <a:solidFill>
              <a:srgbClr val="97979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1247976" cy="71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88753" y="7825838"/>
            <a:ext cx="2600068" cy="38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2398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Profit Margin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08727" y="7084793"/>
            <a:ext cx="1766494" cy="35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7"/>
              </a:lnSpc>
            </a:pPr>
            <a:r>
              <a:rPr lang="en-US" sz="2198" spc="-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36201" y="6006519"/>
            <a:ext cx="1000064" cy="0"/>
          </a:xfrm>
          <a:prstGeom prst="line">
            <a:avLst/>
          </a:prstGeom>
          <a:ln w="38100" cap="flat">
            <a:solidFill>
              <a:srgbClr val="2626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804338" y="2747825"/>
            <a:ext cx="7759465" cy="2668299"/>
          </a:xfrm>
          <a:custGeom>
            <a:avLst/>
            <a:gdLst/>
            <a:ahLst/>
            <a:cxnLst/>
            <a:rect l="l" t="t" r="r" b="b"/>
            <a:pathLst>
              <a:path w="7759465" h="2668299">
                <a:moveTo>
                  <a:pt x="0" y="0"/>
                </a:moveTo>
                <a:lnTo>
                  <a:pt x="7759465" y="0"/>
                </a:lnTo>
                <a:lnTo>
                  <a:pt x="7759465" y="2668298"/>
                </a:lnTo>
                <a:lnTo>
                  <a:pt x="0" y="266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" r="-1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632490" y="8236758"/>
            <a:ext cx="15023021" cy="725452"/>
            <a:chOff x="0" y="0"/>
            <a:chExt cx="3956680" cy="1910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56680" cy="191065"/>
            </a:xfrm>
            <a:custGeom>
              <a:avLst/>
              <a:gdLst/>
              <a:ahLst/>
              <a:cxnLst/>
              <a:rect l="l" t="t" r="r" b="b"/>
              <a:pathLst>
                <a:path w="3956680" h="191065">
                  <a:moveTo>
                    <a:pt x="51534" y="0"/>
                  </a:moveTo>
                  <a:lnTo>
                    <a:pt x="3905147" y="0"/>
                  </a:lnTo>
                  <a:cubicBezTo>
                    <a:pt x="3933608" y="0"/>
                    <a:pt x="3956680" y="23072"/>
                    <a:pt x="3956680" y="51534"/>
                  </a:cubicBezTo>
                  <a:lnTo>
                    <a:pt x="3956680" y="139532"/>
                  </a:lnTo>
                  <a:cubicBezTo>
                    <a:pt x="3956680" y="167993"/>
                    <a:pt x="3933608" y="191065"/>
                    <a:pt x="3905147" y="191065"/>
                  </a:cubicBezTo>
                  <a:lnTo>
                    <a:pt x="51534" y="191065"/>
                  </a:lnTo>
                  <a:cubicBezTo>
                    <a:pt x="23072" y="191065"/>
                    <a:pt x="0" y="167993"/>
                    <a:pt x="0" y="139532"/>
                  </a:cubicBezTo>
                  <a:lnTo>
                    <a:pt x="0" y="51534"/>
                  </a:lnTo>
                  <a:cubicBezTo>
                    <a:pt x="0" y="23072"/>
                    <a:pt x="23072" y="0"/>
                    <a:pt x="51534" y="0"/>
                  </a:cubicBezTo>
                  <a:close/>
                </a:path>
              </a:pathLst>
            </a:custGeom>
            <a:solidFill>
              <a:srgbClr val="3062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3956680" cy="172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9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69526" y="2769452"/>
            <a:ext cx="5324269" cy="167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98"/>
              </a:lnSpc>
            </a:pPr>
            <a:r>
              <a:rPr lang="en-US" sz="4000" spc="-332" dirty="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Interactive</a:t>
            </a:r>
          </a:p>
          <a:p>
            <a:pPr marL="0" lvl="0" indent="0" algn="l">
              <a:lnSpc>
                <a:spcPts val="6898"/>
              </a:lnSpc>
            </a:pPr>
            <a:r>
              <a:rPr lang="en-US" sz="4000" spc="-332" dirty="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 Power BI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6201" y="6465743"/>
            <a:ext cx="4490929" cy="250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9"/>
              </a:lnSpc>
            </a:pPr>
            <a:r>
              <a:rPr lang="en-US" sz="2023" spc="-34">
                <a:solidFill>
                  <a:srgbClr val="3062DC"/>
                </a:solidFill>
                <a:latin typeface="Inter"/>
                <a:ea typeface="Inter"/>
                <a:cs typeface="Inter"/>
                <a:sym typeface="Inter"/>
              </a:rPr>
              <a:t>Financial Sales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57343" y="834390"/>
            <a:ext cx="1301957" cy="20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88"/>
              </a:lnSpc>
            </a:pPr>
            <a:r>
              <a:rPr lang="en-US" sz="1498" spc="-28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Ankit Verma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04338" y="6370493"/>
            <a:ext cx="8065544" cy="98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>
                <a:solidFill>
                  <a:srgbClr val="515151"/>
                </a:solidFill>
                <a:latin typeface="Inter"/>
                <a:ea typeface="Inter"/>
                <a:cs typeface="Inter"/>
                <a:sym typeface="Inter"/>
              </a:rPr>
              <a:t>Full-featured interactive dashboard with slicers for Year, Country, Segment, and Product — enabling real-time exploration of sales performance, profit trends, and business KPIs.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6201" y="8501647"/>
            <a:ext cx="3215808" cy="250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9"/>
              </a:lnSpc>
            </a:pPr>
            <a:r>
              <a:rPr lang="en-US" sz="2023" spc="-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Microsoft Power BI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93796" y="8501647"/>
            <a:ext cx="3700409" cy="24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9"/>
              </a:lnSpc>
            </a:pPr>
            <a:r>
              <a:rPr lang="en-US" sz="2023" spc="-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Analyst Internship – Task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32554" y="8501647"/>
            <a:ext cx="3215808" cy="24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719"/>
              </a:lnSpc>
            </a:pPr>
            <a:r>
              <a:rPr lang="en-US" sz="2023" spc="-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Financial Sales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6D3597-7ED6-5517-62B1-6377C53F9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4870355"/>
            <a:ext cx="7982703" cy="49221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B2A008-89A1-98A8-8C7A-BBDA8639E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408" y="800100"/>
            <a:ext cx="6320592" cy="3853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6CE84B-7DEE-2224-2F15-3C30B5F8C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53" y="1714500"/>
            <a:ext cx="9384047" cy="5391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99C054-BE00-04D4-7052-492E19985156}"/>
              </a:ext>
            </a:extLst>
          </p:cNvPr>
          <p:cNvSpPr txBox="1"/>
          <p:nvPr/>
        </p:nvSpPr>
        <p:spPr>
          <a:xfrm>
            <a:off x="3962400" y="800100"/>
            <a:ext cx="670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 Screens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83256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841819" cy="10287000"/>
          </a:xfrm>
          <a:custGeom>
            <a:avLst/>
            <a:gdLst/>
            <a:ahLst/>
            <a:cxnLst/>
            <a:rect l="l" t="t" r="r" b="b"/>
            <a:pathLst>
              <a:path w="2841819" h="10287000">
                <a:moveTo>
                  <a:pt x="0" y="0"/>
                </a:moveTo>
                <a:lnTo>
                  <a:pt x="2841819" y="0"/>
                </a:lnTo>
                <a:lnTo>
                  <a:pt x="28418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386" r="-4111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365899" y="3010207"/>
            <a:ext cx="10507971" cy="62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84"/>
              </a:lnSpc>
            </a:pPr>
            <a:r>
              <a:rPr lang="en-US" sz="4929" spc="-428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7824" y="4267927"/>
            <a:ext cx="8667360" cy="33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1"/>
              </a:lnSpc>
            </a:pPr>
            <a:r>
              <a:rPr lang="en-US" sz="3425" b="1" spc="-297">
                <a:solidFill>
                  <a:srgbClr val="2B4FA6"/>
                </a:solidFill>
                <a:latin typeface="Inter Bold"/>
                <a:ea typeface="Inter Bold"/>
                <a:cs typeface="Inter Bold"/>
                <a:sym typeface="Inter Bold"/>
              </a:rPr>
              <a:t>Questions &amp; Answers</a:t>
            </a:r>
          </a:p>
          <a:p>
            <a:pPr marL="0" lvl="0" indent="0" algn="l">
              <a:lnSpc>
                <a:spcPts val="2911"/>
              </a:lnSpc>
            </a:pPr>
            <a:endParaRPr lang="en-US" sz="3425" b="1" spc="-297">
              <a:solidFill>
                <a:srgbClr val="2B4FA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2911"/>
              </a:lnSpc>
            </a:pPr>
            <a:r>
              <a:rPr lang="en-US" sz="3425" b="1" spc="-297">
                <a:solidFill>
                  <a:srgbClr val="2B4FA6"/>
                </a:solidFill>
                <a:latin typeface="Inter Bold"/>
                <a:ea typeface="Inter Bold"/>
                <a:cs typeface="Inter Bold"/>
                <a:sym typeface="Inter Bold"/>
              </a:rPr>
              <a:t>• Real-time sales performance monitoring</a:t>
            </a:r>
          </a:p>
          <a:p>
            <a:pPr marL="0" lvl="0" indent="0" algn="l">
              <a:lnSpc>
                <a:spcPts val="2911"/>
              </a:lnSpc>
            </a:pPr>
            <a:endParaRPr lang="en-US" sz="3425" b="1" spc="-297">
              <a:solidFill>
                <a:srgbClr val="2B4FA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2911"/>
              </a:lnSpc>
            </a:pPr>
            <a:r>
              <a:rPr lang="en-US" sz="3425" b="1" spc="-297">
                <a:solidFill>
                  <a:srgbClr val="2B4FA6"/>
                </a:solidFill>
                <a:latin typeface="Inter Bold"/>
                <a:ea typeface="Inter Bold"/>
                <a:cs typeface="Inter Bold"/>
                <a:sym typeface="Inter Bold"/>
              </a:rPr>
              <a:t>• Country &amp; product analysis for better decisions</a:t>
            </a:r>
          </a:p>
          <a:p>
            <a:pPr marL="0" lvl="0" indent="0" algn="l">
              <a:lnSpc>
                <a:spcPts val="2911"/>
              </a:lnSpc>
            </a:pPr>
            <a:endParaRPr lang="en-US" sz="3425" b="1" spc="-297">
              <a:solidFill>
                <a:srgbClr val="2B4FA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2911"/>
              </a:lnSpc>
            </a:pPr>
            <a:r>
              <a:rPr lang="en-US" sz="3425" b="1" spc="-297">
                <a:solidFill>
                  <a:srgbClr val="2B4FA6"/>
                </a:solidFill>
                <a:latin typeface="Inter Bold"/>
                <a:ea typeface="Inter Bold"/>
                <a:cs typeface="Inter Bold"/>
                <a:sym typeface="Inter Bold"/>
              </a:rPr>
              <a:t>• Interactive filters for efficient data exploration</a:t>
            </a:r>
          </a:p>
          <a:p>
            <a:pPr marL="0" lvl="0" indent="0" algn="l">
              <a:lnSpc>
                <a:spcPts val="2911"/>
              </a:lnSpc>
            </a:pPr>
            <a:endParaRPr lang="en-US" sz="3425" b="1" spc="-297">
              <a:solidFill>
                <a:srgbClr val="2B4FA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2911"/>
              </a:lnSpc>
            </a:pPr>
            <a:r>
              <a:rPr lang="en-US" sz="3425" b="1" spc="-297">
                <a:solidFill>
                  <a:srgbClr val="2B4FA6"/>
                </a:solidFill>
                <a:latin typeface="Inter Bold"/>
                <a:ea typeface="Inter Bold"/>
                <a:cs typeface="Inter Bold"/>
                <a:sym typeface="Inter Bold"/>
              </a:rPr>
              <a:t>• Clear visualization of financial KPIs via Power BI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7343" y="824865"/>
            <a:ext cx="1301957" cy="16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72"/>
              </a:lnSpc>
            </a:pPr>
            <a:r>
              <a:rPr lang="en-US" sz="1200" spc="-22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Northline Group</a:t>
            </a:r>
          </a:p>
        </p:txBody>
      </p:sp>
      <p:sp>
        <p:nvSpPr>
          <p:cNvPr id="6" name="AutoShape 6"/>
          <p:cNvSpPr/>
          <p:nvPr/>
        </p:nvSpPr>
        <p:spPr>
          <a:xfrm>
            <a:off x="16761483" y="9277350"/>
            <a:ext cx="497817" cy="0"/>
          </a:xfrm>
          <a:prstGeom prst="line">
            <a:avLst/>
          </a:prstGeom>
          <a:ln w="38100" cap="flat">
            <a:solidFill>
              <a:srgbClr val="2626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</Words>
  <Application>Microsoft Office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Sales Dashboard: Power BI Overview</dc:title>
  <cp:lastModifiedBy>Ankit Verma</cp:lastModifiedBy>
  <cp:revision>2</cp:revision>
  <dcterms:created xsi:type="dcterms:W3CDTF">2006-08-16T00:00:00Z</dcterms:created>
  <dcterms:modified xsi:type="dcterms:W3CDTF">2026-07-05T16:00:07Z</dcterms:modified>
  <dc:identifier>DAHOhyBETYY</dc:identifier>
</cp:coreProperties>
</file>